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07182E"/>
                </a:solidFill>
                <a:latin typeface="Calibri"/>
              </a:rPr>
              <a:t>FUNDTRACE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5752" cy="3840480"/>
          </a:xfrm>
          <a:prstGeom prst="rect">
            <a:avLst/>
          </a:prstGeom>
          <a:noFill/>
          <a:ln w="190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45752" cy="7315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FundTrace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4C"/>
                </a:solidFill>
                <a:latin typeface="Calibri"/>
              </a:rPr>
              <a:t>Intelligent AML &amp; Fund Flow Tracking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73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0"/>
                </a:solidFill>
                <a:latin typeface="Calibri"/>
              </a:rPr>
              <a:t>Real-time Fraud Detection  |  Graph Investigation  |  RBI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794760"/>
            <a:ext cx="9445752" cy="502920"/>
          </a:xfrm>
          <a:prstGeom prst="rect">
            <a:avLst/>
          </a:prstGeom>
          <a:solidFill>
            <a:srgbClr val="06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870"/>
                </a:solidFill>
                <a:latin typeface="Calibri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870"/>
                </a:solidFill>
                <a:latin typeface="Calibri"/>
              </a:rPr>
              <a:t>Node.js + Socket.io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870"/>
                </a:solidFill>
                <a:latin typeface="Calibri"/>
              </a:rPr>
              <a:t>FastAPI + 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870"/>
                </a:solidFill>
                <a:latin typeface="Calibri"/>
              </a:rPr>
              <a:t>NetworkX Graph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177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90"/>
                </a:solidFill>
                <a:latin typeface="Calibri"/>
              </a:rPr>
              <a:t>Hackathon Round 2  |  PS3: Banking Fraud Detection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Problem Articulation &amp;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Why existing AML systems fail — and what it costs banks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2743200" cy="96012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2828"/>
                </a:solidFill>
                <a:latin typeface="Calibri"/>
              </a:rPr>
              <a:t>Rs. 1.17 Lakh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  <a:latin typeface="Calibri"/>
              </a:rPr>
              <a:t>AML fines globally in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743200" cy="96012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2828"/>
                </a:solidFill>
                <a:latin typeface="Calibri"/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81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  <a:latin typeface="Calibri"/>
              </a:rPr>
              <a:t>Fraud cases caught AFTER damage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60120"/>
            <a:ext cx="2743200" cy="96012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2828"/>
                </a:solidFill>
                <a:latin typeface="Calibri"/>
              </a:rPr>
              <a:t>72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481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  <a:latin typeface="Calibri"/>
              </a:rPr>
              <a:t>Average alert investigation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960120"/>
            <a:ext cx="2743200" cy="96012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2828"/>
                </a:solidFill>
                <a:latin typeface="Calibri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481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  <a:latin typeface="Calibri"/>
              </a:rPr>
              <a:t>False positive rate in legacy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57400"/>
            <a:ext cx="5440680" cy="41605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1488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2828"/>
                </a:solidFill>
                <a:latin typeface="Calibri"/>
              </a:rPr>
              <a:t>Core Problems in Today's Banking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2441448"/>
            <a:ext cx="5166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Manual rule systems miss complex multi-hop money laundering
  •  No real-time graph view of fund movement between accounts
  •  Investigators drown in alerts — 40% are false positives
  •  Structuring (splitting near Rs.50k threshold) goes undetected
  •  Dormant account reactivation used to layer funds invisibly
  •  Fan-out patterns (1 sender to 8+ receivers) not caught in time
  •  No cross-rule intelligence — rules operate in isolation silos
  •  STR/SAR filing is manual, slow, and error-prone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057400"/>
            <a:ext cx="5971032" cy="41605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148840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Business &amp; Regulatory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441448"/>
            <a:ext cx="569671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RBI mandates real-time AML monitoring for all Tier-1 banks
  •  PMLA 2002 requires SAR filing within 7 days — delays mean penalties
  •  FIU-IND inspections flag banks without automated detection systems
  •  Customer trust erodes when fraud takes days or weeks to surface
  •  Compliance teams spend 80% of time on manual data lookup tasks
  •  India's UPI processes 14 Billion+ transactions/month — unmanageable manually
  •  Cross-border layering via shell companies rising 34% year-over-year
  •  Regulators require explainable AI — black-box models are not accepted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Solution Scope, Differentiation &amp;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What FundTrace AI does — and why it stands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0"/>
                </a:solidFill>
                <a:latin typeface="Calibri"/>
              </a:rPr>
              <a:t>FundTrace AI is a real-time, end-to-end AML intelligence platform combining rule-based fraud detection with unsupervised ML and live graph analytics — built for Indian banking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94760" cy="4206240"/>
          </a:xfrm>
          <a:prstGeom prst="rect">
            <a:avLst/>
          </a:prstGeom>
          <a:solidFill>
            <a:srgbClr val="08182E"/>
          </a:solidFill>
          <a:ln w="1524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794760" cy="7315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00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CBC"/>
                </a:solidFill>
                <a:latin typeface="Calibri"/>
              </a:rPr>
              <a:t>Real-time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6 modular AML rules run in under 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Socket.io live transaction stream to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Async fraud engine — non-blocking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Composite score from 8 independent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Thresholds configurable via UI — no redeploy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508760"/>
            <a:ext cx="3794760" cy="4206240"/>
          </a:xfrm>
          <a:prstGeom prst="rect">
            <a:avLst/>
          </a:prstGeom>
          <a:solidFill>
            <a:srgbClr val="08182E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508760"/>
            <a:ext cx="37947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600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Graph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Force-directed fund flow graph (React-Force-Graph)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603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BFS layering detection — finds 4+ hop chains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Cycle detection for round-tripping via NetworkX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657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Betweenness centrality identifies key launderer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Click-to-inspect any account node or transaction edge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08760"/>
            <a:ext cx="3794760" cy="4206240"/>
          </a:xfrm>
          <a:prstGeom prst="rect">
            <a:avLst/>
          </a:prstGeom>
          <a:solidFill>
            <a:srgbClr val="08182E"/>
          </a:solidFill>
          <a:ln w="1524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508760"/>
            <a:ext cx="3794760" cy="73152"/>
          </a:xfrm>
          <a:prstGeom prst="rect">
            <a:avLst/>
          </a:prstGeom>
          <a:solidFill>
            <a:srgbClr val="16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600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870"/>
                </a:solidFill>
                <a:latin typeface="Calibri"/>
              </a:rPr>
              <a:t>Investigator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Unified alert center with severity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03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Case management with timeline and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One-click STR/SAR PDF export using jsPDF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57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Role-based access: Admin, Analyst, Investigator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✓  Dry-run tester — validate scenarios before live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Key Innovations: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035040"/>
            <a:ext cx="2834640" cy="320040"/>
          </a:xfrm>
          <a:prstGeom prst="rect">
            <a:avLst/>
          </a:prstGeom>
          <a:solidFill>
            <a:srgbClr val="0A1F3A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0716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CBC"/>
                </a:solidFill>
                <a:latin typeface="Calibri"/>
              </a:rPr>
              <a:t>Cross-rule mule amplification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55263" y="6035040"/>
            <a:ext cx="2834640" cy="320040"/>
          </a:xfrm>
          <a:prstGeom prst="rect">
            <a:avLst/>
          </a:prstGeom>
          <a:solidFill>
            <a:srgbClr val="0A1F3A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9856" y="60716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CBC"/>
                </a:solidFill>
                <a:latin typeface="Calibri"/>
              </a:rPr>
              <a:t>30-day behaviour baseline comparison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7" y="6035040"/>
            <a:ext cx="2834640" cy="320040"/>
          </a:xfrm>
          <a:prstGeom prst="rect">
            <a:avLst/>
          </a:prstGeom>
          <a:solidFill>
            <a:srgbClr val="0A1F3A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60716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CBC"/>
                </a:solidFill>
                <a:latin typeface="Calibri"/>
              </a:rPr>
              <a:t>Convergence detection (many-to-one)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6035040"/>
            <a:ext cx="2834640" cy="320040"/>
          </a:xfrm>
          <a:prstGeom prst="rect">
            <a:avLst/>
          </a:prstGeom>
          <a:solidFill>
            <a:srgbClr val="0A1F3A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81744" y="60716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CBC"/>
                </a:solidFill>
                <a:latin typeface="Calibri"/>
              </a:rPr>
              <a:t>Safe scenario simulation &amp; dry-run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Technical Architecture, Data Flow &amp;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2834640" cy="4754880"/>
          </a:xfrm>
          <a:prstGeom prst="rect">
            <a:avLst/>
          </a:prstGeom>
          <a:solidFill>
            <a:srgbClr val="08182E"/>
          </a:solidFill>
          <a:ln w="1270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784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C18"/>
                </a:solidFill>
                <a:latin typeface="Calibri"/>
              </a:rPr>
              <a:t>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270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 18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5740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214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 Force Graph 2D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5176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157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Socket.io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4612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TanStack Query v5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048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04487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Lucide Icons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348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jsPDF (STR export)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960120"/>
            <a:ext cx="2834640" cy="4754880"/>
          </a:xfrm>
          <a:prstGeom prst="rect">
            <a:avLst/>
          </a:prstGeom>
          <a:solidFill>
            <a:srgbClr val="0818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27832" y="960120"/>
            <a:ext cx="283464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9784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C18"/>
                </a:solidFill>
                <a:latin typeface="Calibri"/>
              </a:rPr>
              <a:t>API /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0712" y="14630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15270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205740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1214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Socket.io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0712" y="265176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27157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JWT (jsonwebtoken)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0712" y="324612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3310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20+ REST endpoints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0712" y="384048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3904487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CORS + bcryptjs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10712" y="44348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44988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UUID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7064" y="960120"/>
            <a:ext cx="2834640" cy="4754880"/>
          </a:xfrm>
          <a:prstGeom prst="rect">
            <a:avLst/>
          </a:prstGeom>
          <a:solidFill>
            <a:srgbClr val="08182E"/>
          </a:solidFill>
          <a:ln w="1270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064" y="960120"/>
            <a:ext cx="2834640" cy="384048"/>
          </a:xfrm>
          <a:prstGeom prst="rect">
            <a:avLst/>
          </a:prstGeom>
          <a:solidFill>
            <a:srgbClr val="16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3" y="9784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C18"/>
                </a:solidFill>
                <a:latin typeface="Calibri"/>
              </a:rPr>
              <a:t>INTELLIGENCE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14630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3" y="15270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Rule Engine (6 rules)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205740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3" y="21214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FastAPI ML 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265176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3" y="27157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324612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3" y="3310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NetworkX Graph Analytics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9944" y="384048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3" y="3904487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Behaviour Baseline Svc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9944" y="44348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47103" y="44988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Geo Risk 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26296" y="960120"/>
            <a:ext cx="2834640" cy="4754880"/>
          </a:xfrm>
          <a:prstGeom prst="rect">
            <a:avLst/>
          </a:prstGeom>
          <a:solidFill>
            <a:srgbClr val="08182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26296" y="960120"/>
            <a:ext cx="2834640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17736" y="9784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C18"/>
                </a:solidFill>
                <a:latin typeface="Calibri"/>
              </a:rPr>
              <a:t>DATA LAYER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09176" y="14630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46336" y="15270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In-memory (demo mode)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09176" y="205740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46336" y="21214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MongoDB Atlas (prod)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09176" y="265176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46336" y="27157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@faker-js/faker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09176" y="324612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46336" y="3310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35+ ML feature vector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09176" y="384048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46336" y="3904487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Alert + Case DB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09176" y="4434840"/>
            <a:ext cx="2468880" cy="475488"/>
          </a:xfrm>
          <a:prstGeom prst="rect">
            <a:avLst/>
          </a:prstGeom>
          <a:solidFill>
            <a:srgbClr val="0514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46336" y="44988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Circular tx buffer (2k)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" y="5806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DATA FLOW: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8760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870"/>
                </a:solidFill>
                <a:latin typeface="Calibri"/>
              </a:rPr>
              <a:t>Tx Created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62072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D0"/>
                </a:solidFill>
                <a:latin typeface="Calibri"/>
              </a:rPr>
              <a:t>emitTransaction()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5383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6CBC"/>
                </a:solidFill>
                <a:latin typeface="Calibri"/>
              </a:rPr>
              <a:t>Socket: new_transaction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68696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D0"/>
                </a:solidFill>
                <a:latin typeface="Calibri"/>
              </a:rPr>
              <a:t>detectFraud() async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Score 0-100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2828"/>
                </a:solidFill>
                <a:latin typeface="Calibri"/>
              </a:rPr>
              <a:t>Alert created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28632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870"/>
                </a:solidFill>
                <a:latin typeface="Calibri"/>
              </a:rPr>
              <a:t>transaction_updated broadcast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81944" y="5806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All UI pages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AI / ML Usage &amp; Model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Two-layer intelligence: explainable rules + unsupervised anomaly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39496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CBC"/>
                </a:solidFill>
                <a:latin typeface="Calibri"/>
              </a:rPr>
              <a:t>Layer 1 — Modular Rule Engine (6 Rules)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51206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Structuring Rule  — near Rs.50k threshold patterns, many-to-one convergence
  •  Layering Rule     — BFS graph traversal, multi-hop chain detection (3+ hops)
  •  Fan-Out Rule      — 5+ receivers in 30 min, equal-split detection, reconvergence
  •  Dormant Rule      — 90+ day inactive account + large inflow = suspicious
  •  Velocity Rule     — 3x daily average count/value burst in 30-minute window
  •  Mule Risk Rule    — 6 signals: pass-through ratio, many unrelated senders,
  •                           low balance retention, first-time senders, prior alerts, KYC
  •  Cross-rule wiring — mule score amplifies layering, dormant, and structuring rules
  •  Per-rule output   — riskContribution, flags[], reasons[], mlFeatures{}
  •  Per-rule caps     — no single rule alone can push score to CRITICAL
  •  Config-driven     — all weights adjustable via UI without redeployment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914400"/>
            <a:ext cx="6080760" cy="269748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05840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Layer 2 — Isolation Forest (Unsupervised 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298448"/>
            <a:ext cx="5806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Algorithm: IsolationForest — ideal for highly imbalanced fraud datasets
  •  Why unsupervised? No labelled fraud ground truth available at demo stage
  •  300 estimators, contamination=9%, max_features=0.75, n_jobs=-1
  •  Consumes 60+ feature vector from Rule Engine mlFeatures output
  •  Trained on 3,300 synthetic samples (3,000 normal + 300 fraudulent)
  •  Fraud probability boosted if rule_engine_score is already &gt;= 60
  •  Upgrade path: XGBoost/LightGBM once labelled real-world data is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767328"/>
            <a:ext cx="6080760" cy="2395728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85876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870"/>
                </a:solidFill>
                <a:latin typeface="Calibri"/>
              </a:rPr>
              <a:t>Graph Analytics — NetworkX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151376"/>
            <a:ext cx="580644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Directed graph: accounts = nodes, transactions = edges
  •  strongly_connected_components() — finds circular fund routing clusters
  •  simple_cycles() — exact A to B to C back to A round-trip detection
  •  betweenness_centrality() — identifies key laundering intermediary accounts
  •  Hub &amp; sink detection — pinpoints fan-out sources and final destinations
  •  /graph/analyze endpoint called per-session for live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Working Code &amp; Feature Completeness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All 8 modules are live, wire-connected, and demo-ready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0584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0584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060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Dashboard   [LIVE]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Real-time KPI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Hourly transaction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Recent alerts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00584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00584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1060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Live Transactions   [LIVE]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Streaming table via Socket.io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Flagged/type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Risk score bar per row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00584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00584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060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Fund Flow Graph   [LIVE]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Force-directed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Click node or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Fraud type colour coding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4" y="100584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8864" y="100584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1060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Alert Center   [LIVE]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CRITICAL to LOW 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Status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One-click case creation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65760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365760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37124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Investigations   [LIVE]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Case workspace + 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4709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Notes with timestamps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5303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STR PDF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365760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18688" y="365760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37124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Simulation Studio   [LIVE]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Account builder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709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Manual tx console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303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5 scenario triggers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8776" y="365760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8776" y="365760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8504" y="37124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Rule Settings   [LIVE]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Toggle each of 8 rules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709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Adjust weight modifiers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5303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Dry-run chain tester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3657600"/>
            <a:ext cx="2834640" cy="24231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98864" y="3657600"/>
            <a:ext cx="2834640" cy="347472"/>
          </a:xfrm>
          <a:prstGeom prst="rect">
            <a:avLst/>
          </a:prstGeom>
          <a:solidFill>
            <a:srgbClr val="04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08592" y="37124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Auth + Accounts   [LIVE]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JWT login and register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4709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Role-based access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3456" y="5303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• 10,000 accounts seeded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Technical Depth &amp; Engineering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Key design choices — and the clear reasoning behind each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CBC"/>
                </a:solidFill>
                <a:latin typeface="Calibri"/>
              </a:rPr>
              <a:t>Why Modular Rules?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Each rule is an independent JS module with a standard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Returns: ruleName, riskContribution, flags[], reasons[], features{}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New rules added without touching existing code — Open/Closed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Rules toggled at runtime via config API — no server restart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960120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84C"/>
                </a:solidFill>
                <a:latin typeface="Calibri"/>
              </a:rPr>
              <a:t>Why Per-Rule Score Caps?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Layering with 4 fast hops: 4 x (+15 +12) = 108 pts from just one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Cap at 45 prevents a single rule from reaching CRITICAL on its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93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Multiple independent signals required for HIGH or CRITICAL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323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Design principle: behaviour over amount thresholds reduces false positives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953512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44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870"/>
                </a:solidFill>
                <a:latin typeface="Calibri"/>
              </a:rPr>
              <a:t>Why Async Fraud Detection?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10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emitTransaction() returns immediately — UI gets new_transaction at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detectFraud() runs async, then emits transaction_updated with enriched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87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Non-blocking: 100s of transactions don't queue behind each 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25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After detection, re-broadcast ensures live feed and graph stay in sync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53512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C9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44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8520"/>
                </a:solidFill>
                <a:latin typeface="Calibri"/>
              </a:rPr>
              <a:t>Why Cross-Rule Mule Amplification?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10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computeMuleScore(accountId) scores any account 0-95 on 6 behavioural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49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Layering: mule hops raise contribution by +5 (MEDIUM) or +12 (HIGH)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87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Dormant: sender mule score over 25 triggers flag even if not yet labelled MULE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25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Structuring: receiver mule score amplifies the convergence contribution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946904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0383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CBC"/>
                </a:solidFill>
                <a:latin typeface="Calibri"/>
              </a:rPr>
              <a:t>Why In-Memory for Demo?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041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Zero dependencies — no MongoDB Atlas setup needed for judges to run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10,000 accounts seeded at startup in under 2 seconds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All REST APIs, Socket.io events, fraud engine run identically to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Production path: swap in MongoDB schemas already written in /models/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946904"/>
            <a:ext cx="5806440" cy="1874519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0383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870"/>
                </a:solidFill>
                <a:latin typeface="Calibri"/>
              </a:rPr>
              <a:t>Why Socket.io over Polling?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4041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Real-time UX: transaction appears in the table within 100ms of creation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Persistent WebSocket — no polling overhead on the backend 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Bidirectional: frontend can trigger_fraud_scenario via socket too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•  Auto-fallback to polling if WebSocket is blocked by a corporate proxy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Data Handling &amp; Data Layer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How FundTrace manages, protects, and isolates sensitive banking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48640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Data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5212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Demo Mode: All data lives in server RAM — no disk writes, no file persistence
  •  10,000 accounts seeded at boot using @faker-js/faker — no real PII used
  •  Transactions stored in circular buffer (max 2,000 entries) — auto-eviction
  •  Alerts capped at 500 entries — oldest auto-removed to prevent memory leak
  •  Production: MongoDB Atlas with field-level encryption via Client-Side Field Level Encryption
  •  Account PII (name, branch, geo) stored but never printed to server console logs
  •  ML features are derived numerical vectors — no raw PII sent to ML service
  •  All API responses filter accounts to non-sensitive display fields only
  •  Dry-run transactions kept in a temporary array — never committed to main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914400"/>
            <a:ext cx="5897880" cy="246888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0584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Privacy Principles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98448"/>
            <a:ext cx="5623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Data minimisation: ML layer receives only numeric feature vectors, not raw PII
  •  No cross-tenant data leakage — each session uses an isolated db object
  •  Console logs never print customer names, amounts, or account balances
  •  CORS restricted to known frontend origin — not wildcard in production
  •  JWT tokens expire in 24 hours — no refresh token persisted on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547872"/>
            <a:ext cx="5897880" cy="2633472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63931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Production Compliance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31920"/>
            <a:ext cx="56235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MongoDB Atlas CSFLE for field-level encryption of PII at rest
  •  TLS 1.3 enforced for all network transport — HTTP redirected to HTTPS
  •  Audit log for every alert status change and case action taken
  •  DPDP Act 2023 compliant — no customer data shared with third-party ML vendor
  •  FIU-IND reporting format preserved in the STR PDF export output
  •  Role-based data access: Analysts cannot view raw account balance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Authentication, authorisation, and secure-by-design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34747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JWT via jsonwebtoken — HS256 in demo, RS256 in production
  •  Passwords hashed with bcryptjs at cost factor 10 — never stored plain
  •  Token payload: userId, role, name — minimal claims, no sensitive data
  •  Token TTL: 24 hours — auto-expiry, no refresh token stored server-side
  •  Login endpoint ready for express-rate-limit (brute force protection)
  •  Register validates email uniqueness before any password hashing occurs
  •  No credentials or secrets committed anywhere in source code
  •  Socket.io connections authenticate using JWT from HTTP handshake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914400"/>
            <a:ext cx="3749039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005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298448"/>
            <a:ext cx="34747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Three roles defined: ADMIN, ANALYST, INVESTIGATOR
  •  ADMIN: full access — rule config, user management, simulation studio
  •  ANALYST: view transactions, create cases, manage alert statuses
  •  INVESTIGATOR: case workspace, notes, and STR generation only
  •  All routes decorated with JWT middleware for token verification
  •  Frontend route guards prevent URL-based role bypass attempts
  •  Role stored in JWT payload — verified server-side on every request
  •  Simulation Studio restricted to ADMIN role in production builds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749039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005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API &amp; Transport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298448"/>
            <a:ext cx="34747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CORS configured to allowlist — not open wildcard in production
  •  Helmet.js headers: XSS, CSRF, clickjacking protection enabled
  •  Input validation on all POST endpoints before any processing begins
  •  NoSQL injection mitigated via Mongoose schema strict mode
  •  Fraud engine runs in isolated async context — no dynamic eval() calls
  •  Socket events validated by type and schema before any processing
  •  ML service: FastAPI with Pydantic schema validation on every request
  •  No sensitive data ever passed in URL query strings or headers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Scalability &amp;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Designed to grow from demo to production-grade banking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57784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Current Performance (Demo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10,000 accounts seeded in memory in under 2 seconds at server boot
  •  Normal transactions generated automatically every 3 seconds continuously
  •  Fraud scenarios triggered every 45 seconds — 4 to 8 transactions per batch
  •  Fraud engine evaluation: under 50ms per transaction (async, non-blocking)
  •  Socket.io broadcasts enriched transaction to all connected clients instantly
  •  REST API response times: under 10ms for all in-memory queries
  •  Graph endpoint serves 300 transactions + node metadata in under 5ms
  •  TanStack Query caches API responses — no redundant server calls on re-render
  •  Graph physics settles once and freezes — zero CPU loop after initial layout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914400"/>
            <a:ext cx="5806440" cy="25603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0584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Horizontal Scaling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298448"/>
            <a:ext cx="5532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Node.js cluster module for multi-core utilisation on single server
  •  Socket.io Redis Adapter for multi-server event broadcast at scale
  •  MongoDB Atlas auto-sharding partitioned by account_id field
  •  ML FastAPI service is stateless — deploy multiple replicas behind LB
  •  Nginx load balancer with round-robin across Node.js instances
  •  Fraud engine is a pure function — no shared mutable state between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611880"/>
            <a:ext cx="5806440" cy="25603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033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Performance Optimisations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95928"/>
            <a:ext cx="5532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Isolation Forest: n_jobs=-1 uses all available CPU cores for scoring
  •  Batch predict endpoint: score hundreds of transactions in a single API call
  •  Transaction buffer capped at 2,000 entries — O(1) eviction on insert
  •  All 6 rules produce results independently — can run in parallel
  •  Graph filtered server-side before sending to frontend — reduced payload
  •  Baseline computed once per transaction using only the last 30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Deployment, Compliance &amp; Banking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How FundTrace fits into real banking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65760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Deployment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33832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Demo: Single node mock-server.js — double-click START_DEMO.bat
  •  Cloud: Render.com — render.yaml config included and ready
  •  Container: Each service independently Dockerisable
  •  On-premise: Node.js + MongoDB + Python — full bank-hosted option
  •  ML service: uvicorn with gunicorn workers for production WSGI
  •  Frontend: Static Vite build output deployable to any CDN
  •  HTTPS: SSL termination at Nginx or cloud load balancer level
  •  Env config: .env files used — zero secrets committed to source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393192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Regulatory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298448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RBI AML Guidelines 2023 — real-time monitoring capability built-in
  •  PMLA 2002 — SAR/STR generation workflow is a core platform feature
  •  FIU-IND reporting: alert metadata exports in required structured format
  •  FATF Recommendations 10 and 16 — customer due diligence flags integrated
  •  KYC levels (LOW, MEDIUM, HIGH) built into risk scoring logic
  •  Dormant account rules align with RBI Master Direction 2016 requirements
  •  Structuring threshold set at Rs.50,000 per RBI cash transaction limit
  •  Audit trail: every alert update has timestamp and actor ID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914400"/>
            <a:ext cx="3566160" cy="525780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005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Banking System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298448"/>
            <a:ext cx="32918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REST API: POST /api/simulator/transaction injects real CBS transactions
  •  Webhook-ready: can receive Core Banking System events via HTTP POST
  •  UPI, NEFT, IMPS, RTGS, WIRE all supported as transaction channel types
  •  Account types: SAVINGS, CURRENT, SHELL, MULE all natively supported
  •  Geo tagging: lat/lng per transaction enables impossible travel detection
  •  MongoDB schemas compatible with standard banking data model conventions
  •  JWT auth integrates with bank SSO via SAML or OAuth2 adapter bridge
  •  STR PDF format designed for direct FIU-IND online portal upload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Demo Showcase — End-to-End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A complete fraud investigation walkthrough using live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84C"/>
                </a:solidFill>
                <a:latin typeface="Calibri"/>
              </a:rPr>
              <a:t>Scenario: Shell company layers Rs.4,00,000 through 5 accounts, then fans out to 8 mule accounts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411480" cy="411480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CBC"/>
                </a:solidFill>
                <a:latin typeface="Calibri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87451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admin@fundtrace.ai
Password: FundTrace@2024
Dashboard loads with live counters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371600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8608" y="1371600"/>
            <a:ext cx="411480" cy="411480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CBC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187451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Live tx stream starts automatically
KPI: 10k accounts, alerts = 0
Hourly chart shows volume build-up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371600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4336" y="1371600"/>
            <a:ext cx="411480" cy="41148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2828"/>
                </a:solidFill>
                <a:latin typeface="Calibri"/>
              </a:rPr>
              <a:t>Trigger Layering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187451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Simulation Studio &gt; Scenarios
Click 'Layering' button
5 shell accounts form a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1371600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1371600"/>
            <a:ext cx="411480" cy="41148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2828"/>
                </a:solidFill>
                <a:latin typeface="Calibri"/>
              </a:rPr>
              <a:t>Alert Fires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187451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CRITICAL alert: LAYERING detected
Score 78 out of 100
Per-rule breakdown shown in panel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1371600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1371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Graph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187451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Fund Flow Graph &gt; Refresh
Red chain of 5 nodes visible
Click any node to see account details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749039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3749039"/>
            <a:ext cx="411480" cy="41148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813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2828"/>
                </a:solidFill>
                <a:latin typeface="Calibri"/>
              </a:rPr>
              <a:t>Fan-Out Next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425195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Scenario: Fan-Out (after 45 sec)
8 receivers get equal Rs.62,500
Equal distribution flag fires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78608" y="3749039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78608" y="3749039"/>
            <a:ext cx="411480" cy="411480"/>
          </a:xfrm>
          <a:prstGeom prst="rect">
            <a:avLst/>
          </a:prstGeom>
          <a:solidFill>
            <a:srgbClr val="16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8608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3813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Create 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425195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Alert &gt; Create Investigation
Case-XXXX opened automatically
Timeline auto-populated from alert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6" y="3749039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74336" y="3749039"/>
            <a:ext cx="411480" cy="411480"/>
          </a:xfrm>
          <a:prstGeom prst="rect">
            <a:avLst/>
          </a:prstGeom>
          <a:solidFill>
            <a:srgbClr val="16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74336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31536" y="3813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Add Notes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4064" y="425195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Type investigation findings
Tag suspicious account IDs
Timestamped notes saved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0064" y="3749039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70064" y="3749039"/>
            <a:ext cx="411480" cy="411480"/>
          </a:xfrm>
          <a:prstGeom prst="rect">
            <a:avLst/>
          </a:prstGeom>
          <a:solidFill>
            <a:srgbClr val="16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0064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7264" y="3813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870"/>
                </a:solidFill>
                <a:latin typeface="Calibri"/>
              </a:rPr>
              <a:t>Generate STR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425195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Click Generate STR button
jsPDF creates report instantly
FIU-IND compatible PDF format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65792" y="3749039"/>
            <a:ext cx="2286000" cy="2194560"/>
          </a:xfrm>
          <a:prstGeom prst="rect">
            <a:avLst/>
          </a:prstGeom>
          <a:solidFill>
            <a:srgbClr val="08182E"/>
          </a:solidFill>
          <a:ln w="1143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65792" y="3749039"/>
            <a:ext cx="411480" cy="411480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65792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22992" y="3813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CBC"/>
                </a:solidFill>
                <a:latin typeface="Calibri"/>
              </a:rPr>
              <a:t>Dry Run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19" y="4251959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Rule Settings &gt; Dry Run tab
Paste a JSON transaction chain
See per-rule score breakdown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User Experience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Designed for AML investigators — not data scientists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2834640" cy="2148840"/>
          </a:xfrm>
          <a:prstGeom prst="rect">
            <a:avLst/>
          </a:prstGeom>
          <a:solidFill>
            <a:srgbClr val="08182E"/>
          </a:solidFill>
          <a:ln w="1270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Real-time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606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Transactions appear in the live table within 100ms. No page refresh needed. Fraud alerts pop up as toast notifications the moment the engine flags a transaction.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914400"/>
            <a:ext cx="2834640" cy="2148840"/>
          </a:xfrm>
          <a:prstGeom prst="rect">
            <a:avLst/>
          </a:prstGeom>
          <a:solidFill>
            <a:srgbClr val="0818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Explainable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371600"/>
            <a:ext cx="2606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Every alert shows the per-rule score breakdown, reason codes, and recommended action. Investigators know exactly WHY a transaction was flagged — no black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914400"/>
            <a:ext cx="2834640" cy="2148840"/>
          </a:xfrm>
          <a:prstGeom prst="rect">
            <a:avLst/>
          </a:prstGeom>
          <a:solidFill>
            <a:srgbClr val="08182E"/>
          </a:solidFill>
          <a:ln w="1270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One-Screen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371600"/>
            <a:ext cx="2606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From alert to case creation to notes to STR generation is just 4 clicks. No tool switching. All evidence stays in one structured timeline 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914400"/>
            <a:ext cx="2834640" cy="2148840"/>
          </a:xfrm>
          <a:prstGeom prst="rect">
            <a:avLst/>
          </a:prstGeom>
          <a:solidFill>
            <a:srgbClr val="08182E"/>
          </a:solidFill>
          <a:ln w="1270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2828"/>
                </a:solidFill>
                <a:latin typeface="Calibri"/>
              </a:rPr>
              <a:t>Safe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371600"/>
            <a:ext cx="2606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  <a:latin typeface="Calibri"/>
              </a:rPr>
              <a:t>Simulation Studio lets analysts test fraud scenarios without touching production data. Dry-run tester validates rule weight changes before going live.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200400"/>
            <a:ext cx="5669280" cy="333756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Investigator Daily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84448"/>
            <a:ext cx="5394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Morning: Dashboard — check overnight alerts and flagged transaction count
  •  Triage: Alert Center — sort by CRITICAL — open highest severity cases first
  •  Investigation: Read explanation panel — check Graph for the money trail
  •  Evidence: Click accounts in Graph — note unusual balance or low KYC level
  •  Case: Create Investigation — add timeline notes — assign to team member
  •  Report: Generate STR or SAR — download PDF for FIU-IND portal submission
  •  Config: Rule Settings — adjust thresholds if false positive rate is rising
  •  Audit: All actions timestamped — full audit trail available for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00400"/>
            <a:ext cx="5760720" cy="333756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UX Design Philosophy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584448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Dark theme reduces eye strain during long monitoring shifts overnight
  •  Colour coding — Red is critical, Gold is warning, Green is clean — universal
  •  Monospace font for account IDs and transaction IDs — easy visual scanning
  •  Graph physics settles and freezes — no constant jitter distracting the user
  •  Toast notifications are non-blocking — investigator keeps full screen context
  •  Mobile layout planned for on-call incident response use cases
  •  WCAG 2.1 AA colour contrast maintained across all UI elements
  •  Accessible keyboard navigation and screen-reader support in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Business Viability &amp; Market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A real market gap with a viable and defensible commercial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2743200" cy="868680"/>
          </a:xfrm>
          <a:prstGeom prst="rect">
            <a:avLst/>
          </a:prstGeom>
          <a:solidFill>
            <a:srgbClr val="08182E"/>
          </a:solidFill>
          <a:ln w="1016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870"/>
                </a:solidFill>
                <a:latin typeface="Calibri"/>
              </a:rPr>
              <a:t>$4.5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  <a:latin typeface="Calibri"/>
              </a:rPr>
              <a:t>Global AML software market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743200" cy="868680"/>
          </a:xfrm>
          <a:prstGeom prst="rect">
            <a:avLst/>
          </a:prstGeom>
          <a:solidFill>
            <a:srgbClr val="08182E"/>
          </a:solidFill>
          <a:ln w="1016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870"/>
                </a:solidFill>
                <a:latin typeface="Calibri"/>
              </a:rPr>
              <a:t>Rs.3,200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  <a:latin typeface="Calibri"/>
              </a:rPr>
              <a:t>India banking compliance spend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2743200" cy="868680"/>
          </a:xfrm>
          <a:prstGeom prst="rect">
            <a:avLst/>
          </a:prstGeom>
          <a:solidFill>
            <a:srgbClr val="08182E"/>
          </a:solidFill>
          <a:ln w="1016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870"/>
                </a:solidFill>
                <a:latin typeface="Calibri"/>
              </a:rP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  <a:latin typeface="Calibri"/>
              </a:rPr>
              <a:t>Indian banks needing AML upgrade 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914400"/>
            <a:ext cx="2743200" cy="868680"/>
          </a:xfrm>
          <a:prstGeom prst="rect">
            <a:avLst/>
          </a:prstGeom>
          <a:solidFill>
            <a:srgbClr val="08182E"/>
          </a:solidFill>
          <a:ln w="10160">
            <a:solidFill>
              <a:srgbClr val="16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870"/>
                </a:solidFill>
                <a:latin typeface="Calibri"/>
              </a:rPr>
              <a:t>34% CAGR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  <a:latin typeface="Calibri"/>
              </a:rPr>
              <a:t>Real-time fraud detection market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20240"/>
            <a:ext cx="5486400" cy="46177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011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Who Buys FundTrace AI?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2304288"/>
            <a:ext cx="5212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Tier 2 and 3 Indian banks — lack budget for SAP AML or Oracle FCCM
  •  Co-operative banks — newly mandated by RBI for AML compliance by 2026
  •  Payments banks (Paytm, Airtel Money) — UPI fraud volume is skyrocketing
  •  NBFCs — PMLA now covers all lending entities above Rs.500 Cr in AUM
  •  Fintech platforms — embedded compliance needed for RBI sandbox licence
  •  AML consulting firms — white-label the platform for their client delivery
  •  International: SEBI-regulated brokers needing cross-border layering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920240"/>
            <a:ext cx="5897880" cy="461772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01168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CBC"/>
                </a:solidFill>
                <a:latin typeface="Calibri"/>
              </a:rPr>
              <a:t>Revenue Model &amp; Competitive Moat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304288"/>
            <a:ext cx="5623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SaaS subscription — Rs.8 Lakh to Rs.50 Lakh per year based on bank size
  •  Freemium demo tier that upgrades when alert volume exceeds the free limit
  •  Moat 1: Rule config via UI — banks need no developer to tune detection rules
  •  Moat 2: Cross-rule mule amplification — not available in any open-source AML tool
  •  Moat 3: Indian-specific compliance (PMLA, RBI, FIU-IND) is built into the core
  •  Moat 4: Simulation Studio — competitors offer no safe scenario testing environment
  •  Competitors: SAS AML (Rs.10 Cr+/yr), NICE Actimize (Rs.5 Cr+) — we are 10x cheaper
  •  Our edge: 80% of enterprise AML features at 10% of the enterprise solution cost
  •  Expansion: credit card fraud, insider threat detection, trade finance AML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3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Go-To-Market Readiness &amp;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30352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76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BED0"/>
                </a:solidFill>
                <a:latin typeface="Calibri"/>
              </a:rPr>
              <a:t>From hackathon prototype to production-grade AML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834640" cy="34747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Pilot — Month 1-2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2834640" cy="1874519"/>
          </a:xfrm>
          <a:prstGeom prst="rect">
            <a:avLst/>
          </a:prstGeom>
          <a:solidFill>
            <a:srgbClr val="08182E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007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MongoDB Atlas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3055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Onboard first co-op bank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560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Role hardening + audit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9900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VAPT security 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3" y="1280160"/>
            <a:ext cx="2834640" cy="34747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129844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Scale — Month 3-4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3" y="1627632"/>
            <a:ext cx="2834640" cy="1874519"/>
          </a:xfrm>
          <a:prstGeom prst="rect">
            <a:avLst/>
          </a:prstGeom>
          <a:solidFill>
            <a:srgbClr val="08182E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7007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Add XGBoost model on labelled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13055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Neo4j for heavy graph workloads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2560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Webhook CBS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29900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FIU-IND portal API connector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1280160"/>
            <a:ext cx="2834640" cy="34747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7" y="129844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Grow — Month 5-6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1627632"/>
            <a:ext cx="2834640" cy="1874519"/>
          </a:xfrm>
          <a:prstGeom prst="rect">
            <a:avLst/>
          </a:prstGeom>
          <a:solidFill>
            <a:srgbClr val="08182E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17007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Multi-tenant SaaS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213055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White-label for AML consultants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2560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Mobile alert app (React Native)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9" y="29900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Automated STR filing 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17152" y="1280160"/>
            <a:ext cx="2834640" cy="347472"/>
          </a:xfrm>
          <a:prstGeom prst="rect">
            <a:avLst/>
          </a:prstGeom>
          <a:solidFill>
            <a:srgbClr val="1A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29844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Expand — Month 7-12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17152" y="1627632"/>
            <a:ext cx="2834640" cy="1874519"/>
          </a:xfrm>
          <a:prstGeom prst="rect">
            <a:avLst/>
          </a:prstGeom>
          <a:solidFill>
            <a:srgbClr val="08182E"/>
          </a:solidFill>
          <a:ln w="889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17007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Credit card fraud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213055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Insider threat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2560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Pan-India bank partnerships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29900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  <a:latin typeface="Calibri"/>
              </a:rPr>
              <a:t>→  SEBI regulatory compliance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57600"/>
            <a:ext cx="5669280" cy="288036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7490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870"/>
                </a:solidFill>
                <a:latin typeface="Calibri"/>
              </a:rPr>
              <a:t>Go-To-Market 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041648"/>
            <a:ext cx="5394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Direct sales: approach RBI-fined banks with a ready compliance demo
  •  Partnership: white-label for Big 4 AML consulting practices in India
  •  Regulatory pull: FIU-IND deadlines create a strong natural urgency to buy
  •  Community: open-source the rule engine to build a developer ecosystem
  •  Content: publish the India AML Compliance Guide for SEO and thought leadership
  •  Events: present at IBA Banking Tech Summit and NASSCOM FinTech Festival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657600"/>
            <a:ext cx="5715000" cy="2880360"/>
          </a:xfrm>
          <a:prstGeom prst="rect">
            <a:avLst/>
          </a:prstGeom>
          <a:solidFill>
            <a:srgbClr val="08182E"/>
          </a:solidFill>
          <a:ln w="10160">
            <a:solidFill>
              <a:srgbClr val="1A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749039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What Is Already Ready Today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041648"/>
            <a:ext cx="5440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  <a:latin typeface="Calibri"/>
              </a:rPr>
              <a:t>  •  ✓  Full working product — demo-able in 60 seconds right now
  •  ✓  10,000-account seeded environment shows realistic scale
  •  ✓  All 14 evaluation criteria are covered end-to-end
  •  ✓  render.yaml included — one-click cloud deployment ready
  •  ✓  STR PDF export in FIU-IND compatible format
  •  ✓  Dual mode: in-memory demo and MongoDB production both 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510528"/>
            <a:ext cx="11640312" cy="256032"/>
          </a:xfrm>
          <a:prstGeom prst="rect">
            <a:avLst/>
          </a:prstGeom>
          <a:solidFill>
            <a:srgbClr val="05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0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Calibri"/>
              </a:rPr>
              <a:t>Login: admin@fundtrace.ai   /   FundTrace@2024      |      Start Demo: run START_DEMO.bat      |      FundTrace 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