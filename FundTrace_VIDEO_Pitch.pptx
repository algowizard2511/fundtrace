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 (0:00–0:08)</a:t>
            </a:r>
          </a:p>
          <a:p>
            <a:r>
              <a:t>Say: "Every three seconds, banks around the world process thousands of transactions. </a:t>
            </a:r>
          </a:p>
          <a:p>
            <a:r>
              <a:t>Some of those are criminals laundering money — right under the bank's nose.</a:t>
            </a:r>
          </a:p>
          <a:p>
            <a:r>
              <a:t>In India alone, over two and a half lakh crore rupees are lost to financial fraud every year.</a:t>
            </a:r>
          </a:p>
          <a:p>
            <a:r>
              <a:t>We built FundTrace AI to stop that."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2 (0:08–0:30)</a:t>
            </a:r>
          </a:p>
          <a:p>
            <a:r>
              <a:t>Say: "The reason financial fraud is so hard to catch comes down to three things.</a:t>
            </a:r>
          </a:p>
          <a:p>
            <a:r>
              <a:t>First — criminals are smart. They structure transactions to stay under reporting thresholds, </a:t>
            </a:r>
          </a:p>
          <a:p>
            <a:r>
              <a:t>route money through layers of shell accounts, and complete the entire cycle in minutes.</a:t>
            </a:r>
          </a:p>
          <a:p>
            <a:r>
              <a:t>Second — banks are slow. Most fraud detection systems process data overnight. </a:t>
            </a:r>
          </a:p>
          <a:p>
            <a:r>
              <a:t>By the time an alert fires, the money has already moved.</a:t>
            </a:r>
          </a:p>
          <a:p>
            <a:r>
              <a:t>And third — regulators are demanding real-time compliance. India's FIU requires Suspicious </a:t>
            </a:r>
          </a:p>
          <a:p>
            <a:r>
              <a:t>Transaction Reports, but most banks simply can't generate them fast enough.</a:t>
            </a:r>
          </a:p>
          <a:p>
            <a:r>
              <a:t>That's the problem we set out to solve."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3 (0:30–1:00)</a:t>
            </a:r>
          </a:p>
          <a:p>
            <a:r>
              <a:t>Say: "Introducing FundTrace AI — a real-time Anti-Money Laundering platform </a:t>
            </a:r>
          </a:p>
          <a:p>
            <a:r>
              <a:t>that sees every transaction, traces every fund flow, and fires fraud alerts in </a:t>
            </a:r>
          </a:p>
          <a:p>
            <a:r>
              <a:t>under 200 milliseconds.</a:t>
            </a:r>
          </a:p>
          <a:p/>
          <a:p>
            <a:r>
              <a:t>It runs on four pillars:</a:t>
            </a:r>
          </a:p>
          <a:p>
            <a:r>
              <a:t>Real-time streaming so alerts fire the instant suspicious activity is detected.</a:t>
            </a:r>
          </a:p>
          <a:p>
            <a:r>
              <a:t>A graph intelligence layer that visually maps money trails across accounts.</a:t>
            </a:r>
          </a:p>
          <a:p>
            <a:r>
              <a:t>A machine learning engine using Isolation Forest to catch anomalies automatically.</a:t>
            </a:r>
          </a:p>
          <a:p>
            <a:r>
              <a:t>And a built-in compliance module that generates Suspicious Transaction Reports with a single click."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4 (1:00–1:30)</a:t>
            </a:r>
          </a:p>
          <a:p>
            <a:r>
              <a:t>Say: "Here's how FundTrace AI works at a high level.</a:t>
            </a:r>
          </a:p>
          <a:p/>
          <a:p>
            <a:r>
              <a:t>Transactions come in from bank feeds — or in our demo, from a built-in simulator </a:t>
            </a:r>
          </a:p>
          <a:p>
            <a:r>
              <a:t>that generates realistic fraud scenarios. They stream into our Node.js backend via Socket.io.</a:t>
            </a:r>
          </a:p>
          <a:p/>
          <a:p>
            <a:r>
              <a:t>The intelligence layer then takes over. Six rule-based detectors check for known fraud patterns </a:t>
            </a:r>
          </a:p>
          <a:p>
            <a:r>
              <a:t>— structuring, layering, round-tripping, and more. Simultaneously, our Isolation Forest ML model </a:t>
            </a:r>
          </a:p>
          <a:p>
            <a:r>
              <a:t>scores every transaction for anomalies. A graph engine maps how money flows between accounts.</a:t>
            </a:r>
          </a:p>
          <a:p/>
          <a:p>
            <a:r>
              <a:t>Finally, everything surfaces on the analyst platform — real-time alerts, a visual fund-flow graph, </a:t>
            </a:r>
          </a:p>
          <a:p>
            <a:r>
              <a:t>and a one-click case management system that generates a compliant STR PDF report."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5 (1:30–2:00)</a:t>
            </a:r>
          </a:p>
          <a:p>
            <a:r>
              <a:t>Say: "FundTrace AI catches eight distinct fraud patterns.</a:t>
            </a:r>
          </a:p>
          <a:p>
            <a:r>
              <a:t>Structuring — breaking large amounts into small transactions to avoid reporting thresholds.</a:t>
            </a:r>
          </a:p>
          <a:p>
            <a:r>
              <a:t>Layering — sending money through four or more shell accounts in a chain.</a:t>
            </a:r>
          </a:p>
          <a:p>
            <a:r>
              <a:t>Round-tripping — money that leaves an account and secretly returns to it.</a:t>
            </a:r>
          </a:p>
          <a:p>
            <a:r>
              <a:t>Dormant activation — a sleeping account suddenly receiving a large deposit.</a:t>
            </a:r>
          </a:p>
          <a:p>
            <a:r>
              <a:t>Fan-out — one account sending to five or more recipients in under 30 minutes.</a:t>
            </a:r>
          </a:p>
          <a:p>
            <a:r>
              <a:t>Mule behaviour — accounts that pass money through but keep almost nothing.</a:t>
            </a:r>
          </a:p>
          <a:p>
            <a:r>
              <a:t>High velocity — unusually high transaction frequency.</a:t>
            </a:r>
          </a:p>
          <a:p>
            <a:r>
              <a:t>And finally, ML anomaly detection that catches patterns even our rules don't cover."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6 (2:00–2:30)</a:t>
            </a:r>
          </a:p>
          <a:p>
            <a:r>
              <a:t>Say: "What makes FundTrace AI different from existing solutions?</a:t>
            </a:r>
          </a:p>
          <a:p/>
          <a:p>
            <a:r>
              <a:t>Most AML tools are batch systems — they run overnight. We detect fraud in under 200 milliseconds.</a:t>
            </a:r>
          </a:p>
          <a:p>
            <a:r>
              <a:t>We're graph-first — instead of just flagging a transaction, we show investigators the full </a:t>
            </a:r>
          </a:p>
          <a:p>
            <a:r>
              <a:t>money trail on an interactive visual graph.</a:t>
            </a:r>
          </a:p>
          <a:p>
            <a:r>
              <a:t>Our ML engine uses Isolation Forest, which is unsupervised — it doesn't need labelled fraud data </a:t>
            </a:r>
          </a:p>
          <a:p>
            <a:r>
              <a:t>and works from day one, even on fraud patterns it's never seen.</a:t>
            </a:r>
          </a:p>
          <a:p>
            <a:r>
              <a:t>And compliance is built in. A Suspicious Transaction Report is literally one click away."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7 (2:30–2:38)</a:t>
            </a:r>
          </a:p>
          <a:p>
            <a:r>
              <a:t>Say: "Now let me show you FundTrace AI in action.</a:t>
            </a:r>
          </a:p>
          <a:p>
            <a:r>
              <a:t>I'm going to walk you through a complete money laundering scenario — from the moment </a:t>
            </a:r>
          </a:p>
          <a:p>
            <a:r>
              <a:t>the fraud begins, to the alert firing, to the investigation being opened — </a:t>
            </a:r>
          </a:p>
          <a:p>
            <a:r>
              <a:t>all in under 60 seconds."</a:t>
            </a:r>
          </a:p>
          <a:p>
            <a:r>
              <a:t>[Switch to screen recording / browser demo]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8 (2:38–3:10)</a:t>
            </a:r>
          </a:p>
          <a:p>
            <a:r>
              <a:t>[While showing the actual demo on screen]</a:t>
            </a:r>
          </a:p>
          <a:p>
            <a:r>
              <a:t>Say: "I've logged in with our demo credentials. </a:t>
            </a:r>
          </a:p>
          <a:p>
            <a:r>
              <a:t>You can see the dashboard is showing live transactions streaming in — </a:t>
            </a:r>
          </a:p>
          <a:p>
            <a:r>
              <a:t>these are generated by our built-in simulator.</a:t>
            </a:r>
          </a:p>
          <a:p/>
          <a:p>
            <a:r>
              <a:t>Now I'll trigger a layering attack. Watch the transaction table — funds are now moving </a:t>
            </a:r>
          </a:p>
          <a:p>
            <a:r>
              <a:t>through a chain of shell accounts.</a:t>
            </a:r>
          </a:p>
          <a:p/>
          <a:p>
            <a:r>
              <a:t>And there it is — a CRITICAL alert fires immediately. Layering chain detected. </a:t>
            </a:r>
          </a:p>
          <a:p>
            <a:r>
              <a:t>This took less than 200 milliseconds from the first suspicious transaction."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9 (3:10–3:45)</a:t>
            </a:r>
          </a:p>
          <a:p>
            <a:r>
              <a:t>[While showing the actual demo on screen]</a:t>
            </a:r>
          </a:p>
          <a:p>
            <a:r>
              <a:t>Say: "I'll click on the alert to open the Fund Flow Graph.</a:t>
            </a:r>
          </a:p>
          <a:p>
            <a:r>
              <a:t>You can see the animated red path — that's the laundering route. </a:t>
            </a:r>
          </a:p>
          <a:p>
            <a:r>
              <a:t>Money moved from Account A, through three shell accounts, to Account D.</a:t>
            </a:r>
          </a:p>
          <a:p>
            <a:r>
              <a:t>I can click on any node to see its full transaction history.</a:t>
            </a:r>
          </a:p>
          <a:p/>
          <a:p>
            <a:r>
              <a:t>Now I'll open an investigation case with one click. I can add notes, </a:t>
            </a:r>
          </a:p>
          <a:p>
            <a:r>
              <a:t>assign it to an analyst, and set its priority.</a:t>
            </a:r>
          </a:p>
          <a:p/>
          <a:p>
            <a:r>
              <a:t>And finally — the piece regulators care most about — I'll generate the STR report.</a:t>
            </a:r>
          </a:p>
          <a:p>
            <a:r>
              <a:t>One click, and a fully formatted Suspicious Transaction Report downloads as a PDF,</a:t>
            </a:r>
          </a:p>
          <a:p>
            <a:r>
              <a:t>ready to submit to FIU-IND."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10 (3:45–4:00)</a:t>
            </a:r>
          </a:p>
          <a:p>
            <a:r>
              <a:t>Say: "To summarise what you just saw:</a:t>
            </a:r>
          </a:p>
          <a:p>
            <a:r>
              <a:t>Fraud was detected in under 200 milliseconds.</a:t>
            </a:r>
          </a:p>
          <a:p>
            <a:r>
              <a:t>The full four-hop laundering route was traced on an interactive graph.</a:t>
            </a:r>
          </a:p>
          <a:p>
            <a:r>
              <a:t>An investigation case was created in one click.</a:t>
            </a:r>
          </a:p>
          <a:p>
            <a:r>
              <a:t>And a compliant Suspicious Transaction Report was generated instantly.</a:t>
            </a:r>
          </a:p>
          <a:p/>
          <a:p>
            <a:r>
              <a:t>That's the complete workflow — from fraud happening to compliance report — in under 90 seconds."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11 (4:00–4:30)</a:t>
            </a:r>
          </a:p>
          <a:p>
            <a:r>
              <a:t>Say: "Let me be transparent about what's built versus what's planned.</a:t>
            </a:r>
          </a:p>
          <a:p/>
          <a:p>
            <a:r>
              <a:t>Everything you saw in the demo is fully working today — the fraud engine, </a:t>
            </a:r>
          </a:p>
          <a:p>
            <a:r>
              <a:t>ML scoring, graph visualisation, case management, and STR export.</a:t>
            </a:r>
          </a:p>
          <a:p/>
          <a:p>
            <a:r>
              <a:t>On the roadmap: we plan to migrate the graph backend from MongoDB to Neo4j for </a:t>
            </a:r>
          </a:p>
          <a:p>
            <a:r>
              <a:t>production-scale graph workloads, add UPI and banking API connectors, </a:t>
            </a:r>
          </a:p>
          <a:p>
            <a:r>
              <a:t>upgrade the ML model to a Graph Neural Network, and eventually launch as a </a:t>
            </a:r>
          </a:p>
          <a:p>
            <a:r>
              <a:t>multi-tenant SaaS platform.</a:t>
            </a:r>
          </a:p>
          <a:p/>
          <a:p>
            <a:r>
              <a:t>What's built today is a fully functional proof of concept — ready to demonstrate </a:t>
            </a:r>
          </a:p>
          <a:p>
            <a:r>
              <a:t>real-world value."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12 (4:30–5:00)</a:t>
            </a:r>
          </a:p>
          <a:p>
            <a:r>
              <a:t>Say: "FundTrace AI was built by a team of four engineers from K. J. Somaiya College of Engineering.</a:t>
            </a:r>
          </a:p>
          <a:p/>
          <a:p>
            <a:r>
              <a:t>[Introduce each member and their contribution]</a:t>
            </a:r>
          </a:p>
          <a:p/>
          <a:p>
            <a:r>
              <a:t>[Member 1] built the real-time backend and fraud detection rule engine.</a:t>
            </a:r>
          </a:p>
          <a:p>
            <a:r>
              <a:t>[Member 2] designed and trained the Isolation Forest model and graph analytics layer.</a:t>
            </a:r>
          </a:p>
          <a:p>
            <a:r>
              <a:t>[Member 3] created the React frontend, including the interactive fund-flow graph.</a:t>
            </a:r>
          </a:p>
          <a:p>
            <a:r>
              <a:t>[Member 4] handled MongoDB integration, REST APIs, and deployment on Render.</a:t>
            </a:r>
          </a:p>
          <a:p/>
          <a:p>
            <a:r>
              <a:t>Together, we built FundTrace AI because we believe real-time fraud detection </a:t>
            </a:r>
          </a:p>
          <a:p>
            <a:r>
              <a:t>shouldn't be a luxury — it should be the standard."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— Slide 13 (END SLIDE — keep on screen 10–15 sec)</a:t>
            </a:r>
          </a:p>
          <a:p>
            <a:r>
              <a:t>Say: "Thank you for watching!</a:t>
            </a:r>
          </a:p>
          <a:p/>
          <a:p>
            <a:r>
              <a:t>All our deliverables are available at the links shown on screen:</a:t>
            </a:r>
          </a:p>
          <a:p>
            <a:r>
              <a:t>D1 — the live demo you can try right now.</a:t>
            </a:r>
          </a:p>
          <a:p>
            <a:r>
              <a:t>D2 — our full source code on GitHub.</a:t>
            </a:r>
          </a:p>
          <a:p>
            <a:r>
              <a:t>D3 — the pitch deck.</a:t>
            </a:r>
          </a:p>
          <a:p>
            <a:r>
              <a:t>D4 — this video.</a:t>
            </a:r>
          </a:p>
          <a:p>
            <a:r>
              <a:t>D5 — our project documentation.</a:t>
            </a:r>
          </a:p>
          <a:p/>
          <a:p>
            <a:r>
              <a:t>FundTrace AI — See every rupee. Stop every scheme."</a:t>
            </a:r>
          </a:p>
          <a:p/>
          <a:p>
            <a:r>
              <a:t>[Leave slide on screen for a few seconds before ending the recording]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PROBLEM  •  0:00 – 0:30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0:00 – 0:08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Every 3 seconds, banks process thousands of transactions.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CBD5E1"/>
                </a:solidFill>
                <a:latin typeface="Calibri"/>
              </a:rPr>
              <a:t>Some of those are laundering money right under their noses.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606040"/>
            <a:ext cx="48463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4C6A"/>
                </a:solidFill>
                <a:latin typeface="Calibri"/>
              </a:rPr>
              <a:t>₹2,50,000 Crore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BD5E1"/>
                </a:solidFill>
                <a:latin typeface="Calibri"/>
              </a:rPr>
              <a:t>lost to financial fraud in India every single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FF"/>
                </a:solidFill>
                <a:latin typeface="Calibri"/>
              </a:rPr>
              <a:t>FundTrace AI  —  Built to stop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PROBLEM  •  0:00 – 0:30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0:08 – 0:30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Why Is This So Hard to Catch?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4C6A"/>
                </a:solidFill>
                <a:latin typeface="Calibri"/>
              </a:rPr>
              <a:t>🔴  Criminals are smart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     They break large transfers into small ones, route funds through shell accounts,
     and complete the cycle — all within minutes.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1">
                <a:solidFill>
                  <a:srgbClr val="FF4C6A"/>
                </a:solidFill>
                <a:latin typeface="Calibri"/>
              </a:rPr>
              <a:t>🔴  Banks are slow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     Most fraud detection runs overnight in batch jobs.
     By morning, the money is already gone.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2200" b="1">
                <a:solidFill>
                  <a:srgbClr val="FF4C6A"/>
                </a:solidFill>
                <a:latin typeface="Calibri"/>
              </a:rPr>
              <a:t>🔴  Regulators are demanding action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     FIU-IND requires real-time Suspicious Transaction Reports.
     Most banks still cannot comply.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SOLUTION  •  0:30 – 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0:30 –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Introducing FundTrace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27632"/>
            <a:ext cx="57607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55648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A real-time AML platform that sees every transaction,
traces every fund flow, and fires alerts in under 200 milliseconds.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2788920" cy="3566160"/>
          </a:xfrm>
          <a:prstGeom prst="rect">
            <a:avLst/>
          </a:prstGeom>
          <a:solidFill>
            <a:srgbClr val="122244"/>
          </a:solidFill>
          <a:ln w="228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FF"/>
                </a:solidFill>
                <a:latin typeface="Calibri"/>
              </a:rPr>
              <a:t>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776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Sub-200ms detection
via Socket.io streaming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743200"/>
            <a:ext cx="2788920" cy="3566160"/>
          </a:xfrm>
          <a:prstGeom prst="rect">
            <a:avLst/>
          </a:prstGeom>
          <a:solidFill>
            <a:srgbClr val="122244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529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🕸️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C3AED"/>
                </a:solidFill>
                <a:latin typeface="Calibri"/>
              </a:rP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776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Visual fund-flow graph
with cycle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2788920" cy="3566160"/>
          </a:xfrm>
          <a:prstGeom prst="rect">
            <a:avLst/>
          </a:prstGeom>
          <a:solidFill>
            <a:srgbClr val="122244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8529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ML POWERED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776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Isolation Forest scores
every transaction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2743200"/>
            <a:ext cx="2788920" cy="3566160"/>
          </a:xfrm>
          <a:prstGeom prst="rect">
            <a:avLst/>
          </a:prstGeom>
          <a:solidFill>
            <a:srgbClr val="12224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8529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COMPLIANT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977639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One-click STR / PDF
FIU-IND 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SOLUTION  •  0:30 – 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1:00 – 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3749039" cy="4572000"/>
          </a:xfrm>
          <a:prstGeom prst="rect">
            <a:avLst/>
          </a:prstGeom>
          <a:solidFill>
            <a:srgbClr val="122244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3749039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600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① TRANSACTIONS COME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84831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Bank feeds, UPI, NEFT, RTGS
Stream into Node.js via Socket.io
Simulator generates realistic fraud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72768"/>
            <a:ext cx="3749039" cy="4572000"/>
          </a:xfrm>
          <a:prstGeom prst="rect">
            <a:avLst/>
          </a:prstGeom>
          <a:solidFill>
            <a:srgbClr val="122244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72768"/>
            <a:ext cx="3749039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600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② 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84831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6 rule-based fraud detectors fire
Isolation Forest ML scores each tx
Graph engine maps fund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72768"/>
            <a:ext cx="3749039" cy="4572000"/>
          </a:xfrm>
          <a:prstGeom prst="rect">
            <a:avLst/>
          </a:prstGeom>
          <a:solidFill>
            <a:srgbClr val="1222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72768"/>
            <a:ext cx="3749039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6002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0F1E"/>
                </a:solidFill>
                <a:latin typeface="Calibri"/>
              </a:rPr>
              <a:t>③ ANALYST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084831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Alerts appear in real time
Graph visualises money trail
One click → Case → STR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React + Vite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56232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01952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Node.js + Express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6704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92424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Socket.io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37176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Python FastAPI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7648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MongoDB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NetworkX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08592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Isolation Forest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99064" y="6400800"/>
            <a:ext cx="141732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44784" y="6409944"/>
            <a:ext cx="1325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0D4FF"/>
                </a:solidFill>
                <a:latin typeface="Calibri"/>
              </a:rPr>
              <a:t>jsPDF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SOLUTION  •  0:30 – 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1:30 – 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8 Fraud Patterns — Detected Automatically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2763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27632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Structuring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Multiple txns near ₹50k 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764792"/>
            <a:ext cx="13258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647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2763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27632"/>
            <a:ext cx="109728" cy="107899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71907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Layering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13969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Fund chain across ≥ 4 shell accounts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15600" y="1764792"/>
            <a:ext cx="1325880" cy="320040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17647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1635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816352"/>
            <a:ext cx="109728" cy="107899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29077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Round-Tripping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3284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Money returns to origin account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953512"/>
            <a:ext cx="1325880" cy="320040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29535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1635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816352"/>
            <a:ext cx="109728" cy="107899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90779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Dormant Activation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332841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Inactive account + sudden large inflow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0" y="2953512"/>
            <a:ext cx="1325880" cy="320040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29535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CRITICAL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00507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005072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0965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Fan-Out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5171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5+ recipients within 30 minutes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142232"/>
            <a:ext cx="13258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142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400507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4005072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40965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Mule 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0528" y="45171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Out/In &gt; 90%, retention &lt; 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4142232"/>
            <a:ext cx="13258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15600" y="41422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19379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5193792"/>
            <a:ext cx="109728" cy="10789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2852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High Velocity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7058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10+ transactions in 30 minutes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5330952"/>
            <a:ext cx="1325880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3309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5193792"/>
            <a:ext cx="5669280" cy="1078992"/>
          </a:xfrm>
          <a:prstGeom prst="rect">
            <a:avLst/>
          </a:prstGeom>
          <a:solidFill>
            <a:srgbClr val="122244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5193792"/>
            <a:ext cx="109728" cy="10789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0528" y="52852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ML Anomaly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0528" y="570585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Isolation Forest outlier score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515600" y="5330952"/>
            <a:ext cx="1325880" cy="32004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15600" y="53309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VARIABLE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SOLUTION  •  0:30 – 2:30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2:00 – 2:30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FundTrace AI — Not Something Off the Shelf?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5669280" cy="2240280"/>
          </a:xfrm>
          <a:prstGeom prst="rect">
            <a:avLst/>
          </a:prstGeom>
          <a:solidFill>
            <a:srgbClr val="1222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6692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550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vs. Overnight Batch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30552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Legacy AML runs overnight.
FundTrace detects in &lt; 200ms — catching fraud before it completes.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00200"/>
            <a:ext cx="5669280" cy="2240280"/>
          </a:xfrm>
          <a:prstGeom prst="rect">
            <a:avLst/>
          </a:prstGeom>
          <a:solidFill>
            <a:srgbClr val="122244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00200"/>
            <a:ext cx="56692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5506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Graph-First 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30552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We don't just flag transactions.
We show investigators the entire money trail on an interactive graph.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95928"/>
            <a:ext cx="5669280" cy="2240280"/>
          </a:xfrm>
          <a:prstGeom prst="rect">
            <a:avLst/>
          </a:prstGeom>
          <a:solidFill>
            <a:srgbClr val="1222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95928"/>
            <a:ext cx="56692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50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No Labelled Training Data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262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Isolation Forest is unsupervised.
It detects anomalies on Day 1, even for brand-new fraud patterns.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95928"/>
            <a:ext cx="5669280" cy="2240280"/>
          </a:xfrm>
          <a:prstGeom prst="rect">
            <a:avLst/>
          </a:prstGeom>
          <a:solidFill>
            <a:srgbClr val="1222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95928"/>
            <a:ext cx="56692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0507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Compliance Built 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52628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STR PDF generation is one click.
RBI AML and FIU-IND format — no manual report writing.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DEMO  •  2:30 – 4:00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2:30 – 2:38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09728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429000"/>
            <a:ext cx="48463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Watch FundTrace AI catch a money laundering scheme
in real time — from alert to investigation in 60 seconds.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  <a:latin typeface="Calibri"/>
              </a:rPr>
              <a:t>http://localhost:5173  •  admin@fundtrace.ai  /  FundTrace@2024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DEMO  •  2:30 – 4:00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2:38 – 3:10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Step 1 — Dashboard &amp; Alert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①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Navigate to http://localhost:5173
Login: admin@fundtrace.ai / FundTrace@2024
Dashboard loads with live transaction 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② SIMULATOR FIRES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Click 'Run Layering Simulation'
Funds flow through 4 shell accounts
Transactions appear in real time on the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FF4C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4C6A"/>
                </a:solidFill>
                <a:latin typeface="Calibri"/>
              </a:rPr>
              <a:t>③ CRITICAL ALERT FIRES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"Layering Chain Detected — CRITICAL"
Alert appears instantly in the Alert Center
Severity: CRITICAL | Confidence: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DEMO  •  2:30 – 4:00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3:10 – 3:45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Step 2 — Graph &amp; Investigation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Calibri"/>
              </a:rPr>
              <a:t>④ OPEN FUND FLOW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Click the alert → Fund Flow Graph opens
Animated red path traces the entire laundering route
Click any node to inspect account history and balance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10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⑤ CREATE INVESTIGATION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94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One click → Investigation Workspace opens
Add timeline notes and findings
Assign to analyst | Set priority | Track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0600"/>
            <a:ext cx="11430000" cy="1444752"/>
          </a:xfrm>
          <a:prstGeom prst="rect">
            <a:avLst/>
          </a:prstGeom>
          <a:solidFill>
            <a:srgbClr val="1222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9103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⑥ GENERATE STR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94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Click 'Generate STR' → PDF downloads instantly
FIU-IND compliant Suspicious Transaction Report
Includes all transaction details and graph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DEMO  •  2:30 – 4:00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3:45 – 4:00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You Just Saw — In 90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051560"/>
          </a:xfrm>
          <a:prstGeom prst="rect">
            <a:avLst/>
          </a:prstGeom>
          <a:solidFill>
            <a:srgbClr val="122244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4FF"/>
                </a:solidFill>
                <a:latin typeface="Calibri"/>
              </a:rPr>
              <a:t>Fraud 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&lt; 200 milliseconds after first suspicious transaction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11430000" cy="1051560"/>
          </a:xfrm>
          <a:prstGeom prst="rect">
            <a:avLst/>
          </a:prstGeom>
          <a:solidFill>
            <a:srgbClr val="122244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3AED"/>
                </a:solidFill>
                <a:latin typeface="Calibri"/>
              </a:rPr>
              <a:t>Graph traced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Full 4-hop laundering route visualised interactively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77639"/>
            <a:ext cx="11430000" cy="1051560"/>
          </a:xfrm>
          <a:prstGeom prst="rect">
            <a:avLst/>
          </a:prstGeom>
          <a:solidFill>
            <a:srgbClr val="1222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14799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06907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Case 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52627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Investigation opened, notes added, analyst assigned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66360"/>
            <a:ext cx="11430000" cy="1051560"/>
          </a:xfrm>
          <a:prstGeom prst="rect">
            <a:avLst/>
          </a:prstGeom>
          <a:solidFill>
            <a:srgbClr val="1222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0352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257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STR generated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715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Compliant PDF report ready for FIU-IND submission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BUILT vs PLANNED  •  4:00 – 4:30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4:00 – 4:30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What We Built vs. What's 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5577840" cy="4937760"/>
          </a:xfrm>
          <a:prstGeom prst="rect">
            <a:avLst/>
          </a:prstGeom>
          <a:solidFill>
            <a:srgbClr val="12224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55778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002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✅  BUILT — Working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8-type rule-based fraud engine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Isolation Forest ML anomaly scoring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Interactive force-directed fund-flow graph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Real-time alerts via Socket.io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Case investigation workspace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One-click STR / PDF export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Role-based access (Admin, Analyst, Investigator)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Transaction simulator with scripted fraud scenarios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72768"/>
            <a:ext cx="5577840" cy="4937760"/>
          </a:xfrm>
          <a:prstGeom prst="rect">
            <a:avLst/>
          </a:prstGeom>
          <a:solidFill>
            <a:srgbClr val="122244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72768"/>
            <a:ext cx="55778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0F1E"/>
                </a:solidFill>
                <a:latin typeface="Calibri"/>
              </a:rPr>
              <a:t>🔵  ROADMAP — Next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Q3 2026 — Neo4j for heavy graph workloads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Q3 2026 — UPI / NEFT / RTGS connector APIs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Q3 2026 — Multi-bank data federation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Q4 2026 — Graph Neural Network (GNN) model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Q4 2026 — Explainable AI for alert justification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Q4 2026 — RBI regulatory examiner dashboard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2027 — Multi-tenant SaaS platform</a:t>
            </a:r>
          </a:p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• 2027 — AI investigator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011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A0F1E"/>
                </a:solidFill>
                <a:latin typeface="Calibri"/>
              </a:rPr>
              <a:t>⏱  TEAM  •  4:30 – 5:00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solidFill>
            <a:srgbClr val="122244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2011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BD5E1"/>
                </a:solidFill>
                <a:latin typeface="Calibri"/>
              </a:rPr>
              <a:t>4:30 – 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The Team Behind FundTrace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FF"/>
                </a:solidFill>
                <a:latin typeface="Calibri"/>
              </a:rPr>
              <a:t>K. J. Somaiya College of Engineering  •  Hackathon Round 2  •  PS3: Banking Fraud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93392"/>
            <a:ext cx="2798064" cy="4434840"/>
          </a:xfrm>
          <a:prstGeom prst="rect">
            <a:avLst/>
          </a:prstGeom>
          <a:solidFill>
            <a:srgbClr val="122244"/>
          </a:solidFill>
          <a:ln w="228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2" y="2121408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121408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40156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 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4048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00D4FF"/>
                </a:solidFill>
                <a:latin typeface="Calibri"/>
              </a:rPr>
              <a:t>Full-Stack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22452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Socket.io backend
&amp; fraud rule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993392"/>
            <a:ext cx="2798064" cy="4434840"/>
          </a:xfrm>
          <a:prstGeom prst="rect">
            <a:avLst/>
          </a:prstGeom>
          <a:solidFill>
            <a:srgbClr val="122244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2121408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2121408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40156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 Member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84048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Calibri"/>
              </a:rPr>
              <a:t>ML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422452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Isolation Forest
&amp; graph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1993392"/>
            <a:ext cx="2798064" cy="4434840"/>
          </a:xfrm>
          <a:prstGeom prst="rect">
            <a:avLst/>
          </a:prstGeom>
          <a:solidFill>
            <a:srgbClr val="122244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04888" y="2121408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2121408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40156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 Member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384048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C3AED"/>
                </a:solidFill>
                <a:latin typeface="Calibri"/>
              </a:rPr>
              <a:t>Frontend / UI-UX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422452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React dashboard
&amp; graph visualisation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0304" y="1993392"/>
            <a:ext cx="2798064" cy="4434840"/>
          </a:xfrm>
          <a:prstGeom prst="rect">
            <a:avLst/>
          </a:prstGeom>
          <a:solidFill>
            <a:srgbClr val="122244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94976" y="2121408"/>
            <a:ext cx="1170432" cy="1170432"/>
          </a:xfrm>
          <a:prstGeom prst="rect">
            <a:avLst/>
          </a:prstGeom>
          <a:solidFill>
            <a:srgbClr val="1C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2121408"/>
            <a:ext cx="11704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81744" y="3401568"/>
            <a:ext cx="2615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Team Member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3840480"/>
            <a:ext cx="2615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59E0B"/>
                </a:solidFill>
                <a:latin typeface="Calibri"/>
              </a:rPr>
              <a:t>Backend / DevOps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81744" y="4224528"/>
            <a:ext cx="26151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Calibri"/>
              </a:rPr>
              <a:t>MongoDB, APIs
&amp; deployment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59E0B"/>
                </a:solidFill>
                <a:latin typeface="Calibri"/>
              </a:rPr>
              <a:t>⚠  Replace with actual team member names and photos before recording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72084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FundTrace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298448"/>
            <a:ext cx="393192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  <a:latin typeface="Calibri"/>
              </a:rPr>
              <a:t>Real-time AML  •  Graph Intelligence  •  Built for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D4FF"/>
                </a:solidFill>
                <a:latin typeface="Calibri"/>
              </a:rPr>
              <a:t>📦  All Deliverables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11430000" cy="64008"/>
          </a:xfrm>
          <a:prstGeom prst="rect">
            <a:avLst/>
          </a:prstGeom>
          <a:solidFill>
            <a:srgbClr val="1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78608"/>
            <a:ext cx="11430000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78608"/>
            <a:ext cx="594360" cy="7132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1576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F1E"/>
                </a:solidFill>
                <a:latin typeface="Calibri"/>
              </a:rPr>
              <a:t>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517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Demo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9008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D4FF"/>
                </a:solidFill>
                <a:latin typeface="Calibri"/>
              </a:rPr>
              <a:t>http://localhost:5173  (or your Render URL)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55848"/>
            <a:ext cx="11430000" cy="713232"/>
          </a:xfrm>
          <a:prstGeom prst="rect">
            <a:avLst/>
          </a:prstGeom>
          <a:solidFill>
            <a:srgbClr val="1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55848"/>
            <a:ext cx="594360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9300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F1E"/>
                </a:solidFill>
                <a:latin typeface="Calibri"/>
              </a:rPr>
              <a:t>D2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4290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GitHub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673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0B981"/>
                </a:solidFill>
                <a:latin typeface="Calibri"/>
              </a:rPr>
              <a:t>[https://github.com/your-org/fundtrace-ai]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33087"/>
            <a:ext cx="11430000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33087"/>
            <a:ext cx="594360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27024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F1E"/>
                </a:solidFill>
                <a:latin typeface="Calibri"/>
              </a:rPr>
              <a:t>D3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20623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Pitch Deck (PPT/Slides)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4456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C3AED"/>
                </a:solidFill>
                <a:latin typeface="Calibri"/>
              </a:rPr>
              <a:t>[Your Google Slides link here]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10327"/>
            <a:ext cx="11430000" cy="713232"/>
          </a:xfrm>
          <a:prstGeom prst="rect">
            <a:avLst/>
          </a:prstGeom>
          <a:solidFill>
            <a:srgbClr val="1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910327"/>
            <a:ext cx="594360" cy="713232"/>
          </a:xfrm>
          <a:prstGeom prst="rect">
            <a:avLst/>
          </a:prstGeom>
          <a:solidFill>
            <a:srgbClr val="FF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4748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F1E"/>
                </a:solidFill>
                <a:latin typeface="Calibri"/>
              </a:rPr>
              <a:t>D4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9834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Pitch Video (YouTube)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21807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4C6A"/>
                </a:solidFill>
                <a:latin typeface="Calibri"/>
              </a:rPr>
              <a:t>[https://youtube.com/watch?v=YOUR_VIDEO_ID]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87568"/>
            <a:ext cx="11430000" cy="7132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687568"/>
            <a:ext cx="594360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824728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0F1E"/>
                </a:solidFill>
                <a:latin typeface="Calibri"/>
              </a:rPr>
              <a:t>D5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7607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Project README / Docs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6099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Calibri"/>
              </a:rPr>
              <a:t>https://github.com/your-org/fundtrace-ai#readme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59E0B"/>
                </a:solidFill>
                <a:latin typeface="Calibri"/>
              </a:rPr>
              <a:t>⚠  Replace bracketed URLs with your actual submission links before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1052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