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FundTrace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606040"/>
            <a:ext cx="44805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  <a:latin typeface="Calibri"/>
              </a:rPr>
              <a:t>Intelligent Real-Time Fund Flow Tracking &amp; AML Fraud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03320"/>
            <a:ext cx="338328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12463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E"/>
                </a:solidFill>
                <a:latin typeface="Calibri"/>
              </a:rPr>
              <a:t>🏦  RBI AML Compliant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3703320"/>
            <a:ext cx="338328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3712463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E"/>
                </a:solidFill>
                <a:latin typeface="Calibri"/>
              </a:rPr>
              <a:t>⚡  Real-Time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3703320"/>
            <a:ext cx="338328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712463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E"/>
                </a:solidFill>
                <a:latin typeface="Calibri"/>
              </a:rPr>
              <a:t>🤖  ML + Graph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D4FF"/>
                </a:solidFill>
                <a:latin typeface="Calibri"/>
              </a:rPr>
              <a:t>PS3: Banking Fraud Detection  |  Hackathon Round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66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K. J. Somaiya College of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₹2.5 Lakh Crore Lost Annually to Financial Fraud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4C6A"/>
                </a:solidFill>
                <a:latin typeface="Calibri"/>
              </a:rPr>
              <a:t>🔴  Launderers exploit banking blind spots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     Structuring, layering &amp; round-tripping go undetected for months</a:t>
            </a:r>
          </a:p>
          <a:p>
            <a:pPr algn="l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FF4C6A"/>
                </a:solidFill>
                <a:latin typeface="Calibri"/>
              </a:rPr>
              <a:t>🔴  Manual investigation is dangerously slow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     Analysts review thousands of transactions by hand — fraud is buried in noise</a:t>
            </a:r>
          </a:p>
          <a:p>
            <a:pPr algn="l"/>
            <a:r>
              <a:rPr sz="7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FF4C6A"/>
                </a:solidFill>
                <a:latin typeface="Calibri"/>
              </a:rPr>
              <a:t>🔴  Regulators demand real-time FIU / STR reporting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     Most banks still run batch-overnight systems, missing fraud that happens in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508760"/>
            <a:ext cx="3566160" cy="1508760"/>
          </a:xfrm>
          <a:prstGeom prst="rect">
            <a:avLst/>
          </a:prstGeom>
          <a:solidFill>
            <a:srgbClr val="1A0610"/>
          </a:solidFill>
          <a:ln w="1524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600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4C6A"/>
                </a:solidFill>
                <a:latin typeface="Calibri"/>
              </a:rPr>
              <a:t>$3.1 Trillion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22199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Global money laundered
annually  (UNODC)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3172968"/>
            <a:ext cx="3566160" cy="1508760"/>
          </a:xfrm>
          <a:prstGeom prst="rect">
            <a:avLst/>
          </a:prstGeom>
          <a:solidFill>
            <a:srgbClr val="1A0610"/>
          </a:solidFill>
          <a:ln w="1524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26440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4C6A"/>
                </a:solidFill>
                <a:latin typeface="Calibri"/>
              </a:rPr>
              <a:t>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886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Avg. time to detect
a scheme manually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4837176"/>
            <a:ext cx="3566160" cy="1508760"/>
          </a:xfrm>
          <a:prstGeom prst="rect">
            <a:avLst/>
          </a:prstGeom>
          <a:solidFill>
            <a:srgbClr val="1A0610"/>
          </a:solidFill>
          <a:ln w="1524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92861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4C6A"/>
                </a:solidFill>
                <a:latin typeface="Calibri"/>
              </a:rPr>
              <a:t>₹50,000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55040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Structuring threshold
exploited most often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Financial fraud is a systemic crisis — FundTrace AI was built to solve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FundTrace AI — See Every Rupee. Stop Every Scheme.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 real-time AML platform combining graph analytics, rule-based detection and machine learning
to catch fraud the moment it happens — not months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377440"/>
            <a:ext cx="3749039" cy="4114800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363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Calibri"/>
              </a:rPr>
              <a:t>Real-Time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93592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Transaction events stream via Socket.io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Fraud rules fire in &lt; 200 ms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8 fraud types caught continuously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Live KPI dashboard with animated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377440"/>
            <a:ext cx="3749039" cy="4114800"/>
          </a:xfrm>
          <a:prstGeom prst="rect">
            <a:avLst/>
          </a:prstGeom>
          <a:solidFill>
            <a:srgbClr val="122244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4871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🕸️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1363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Calibri"/>
              </a:rPr>
              <a:t>Graph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93592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Interactive force-directed fund-flow graph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Detects layering chains (≥ 4 hops)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Round-trip cycle &amp; mule network detection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Click any node to inspect account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2377440"/>
            <a:ext cx="3749039" cy="4114800"/>
          </a:xfrm>
          <a:prstGeom prst="rect">
            <a:avLst/>
          </a:prstGeom>
          <a:solidFill>
            <a:srgbClr val="1222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24871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31363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ML Anomaly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3593592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Isolation Forest scores every transaction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Unsupervised — no labelled data needed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Catches new, unseen attack patterns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Continuous real-time + batch scoring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One platform — three intelligence layers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Three Layers, One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3794760" cy="4892040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794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1848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0F1E"/>
                </a:solidFill>
                <a:latin typeface="Calibri"/>
              </a:rPr>
              <a:t>LAYER 1 — DATA &amp;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299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Calibri"/>
              </a:rPr>
              <a:t>Node.js + Express + Socket.io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87168"/>
            <a:ext cx="3611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Real-time transaction streaming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6 rule-based fraud detectors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Transaction simulator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MongoDB (accounts, cases, alerts)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600200"/>
            <a:ext cx="3794760" cy="4892040"/>
          </a:xfrm>
          <a:prstGeom prst="rect">
            <a:avLst/>
          </a:prstGeom>
          <a:solidFill>
            <a:srgbClr val="122244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600200"/>
            <a:ext cx="37947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61848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0F1E"/>
                </a:solidFill>
                <a:latin typeface="Calibri"/>
              </a:rPr>
              <a:t>LAYER 2 — ML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0299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Python +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2487168"/>
            <a:ext cx="3611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Isolation Forest anomaly scoring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NetworkX graph analytics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Batch + real-time scoring API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Runs on port 8000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600200"/>
            <a:ext cx="3794760" cy="4892040"/>
          </a:xfrm>
          <a:prstGeom prst="rect">
            <a:avLst/>
          </a:prstGeom>
          <a:solidFill>
            <a:srgbClr val="1222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1600200"/>
            <a:ext cx="3794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61848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0F1E"/>
                </a:solidFill>
                <a:latin typeface="Calibri"/>
              </a:rPr>
              <a:t>LAYER 3 —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0299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React + Vite + Tailwind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487168"/>
            <a:ext cx="3611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Live Dashboard (KPI + charts)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Force-Directed Fund Flow Graph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Alert Center (real-time)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• Investigations + STR PDF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428232"/>
            <a:ext cx="1389888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643737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React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1368" y="6428232"/>
            <a:ext cx="1389888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37944" y="643737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Node.js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82696" y="6428232"/>
            <a:ext cx="1389888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9272" y="643737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FastAPI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64024" y="6428232"/>
            <a:ext cx="1389888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643737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Socket.io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6428232"/>
            <a:ext cx="1389888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643737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MongoDB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80" y="6428232"/>
            <a:ext cx="1389888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63256" y="643737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NetworkX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6428232"/>
            <a:ext cx="1389888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643737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Isolation Forest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89336" y="6428232"/>
            <a:ext cx="1389888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25912" y="643737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jsPDF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FRAUD DETECTION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8 Fraud Types Detected —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114300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FRAUD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9105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DETECTION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59105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SEVERITY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84248"/>
            <a:ext cx="1143000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Structuring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7568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Multiple transactions near ₹50,000 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2084832"/>
            <a:ext cx="155448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0848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42032"/>
            <a:ext cx="11430000" cy="530352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33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Layering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63347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BFS graph traversal across ≥ 4 shell account hops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2642616"/>
            <a:ext cx="1554480" cy="329184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6426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CRITICAL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99815"/>
            <a:ext cx="1143000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9125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Round-Tripping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191255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Cycle detection in the fund-flow graph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3200399"/>
            <a:ext cx="1554480" cy="329184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3200399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CRITICAL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11430000" cy="530352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Dormant Activation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7490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Account inactive &gt;90 days + sudden large inflow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758184"/>
            <a:ext cx="1554480" cy="329184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75818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CRITICAL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15383"/>
            <a:ext cx="1143000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30682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Fan-Out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306823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5+ unique receivers within 30 minutes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4315967"/>
            <a:ext cx="155448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4315967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73168"/>
            <a:ext cx="11430000" cy="530352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8646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Mule Behaviour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86460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Out/In ratio &gt;90%, balance retention &lt;5%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4873752"/>
            <a:ext cx="155448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48737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330952"/>
            <a:ext cx="1143000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422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High Velocity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42239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10+ transactions processed within 30 minutes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5431536"/>
            <a:ext cx="1554480" cy="32918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0" y="543153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888736"/>
            <a:ext cx="11430000" cy="530352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9801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ML Anomaly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98017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Isolation Forest outlier score (unsupervised)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5989320"/>
            <a:ext cx="1554480" cy="32918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0" y="59893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VARIABLE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Rule-based speed + ML intelligence — defence in depth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From Login to STR Report in 60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669280" cy="1115568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7373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D4FF"/>
                </a:solidFill>
                <a:latin typeface="Calibr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Calibri"/>
              </a:rP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admin@fundtrace.ai / FundTrace@2024 → Dashboard loads with live stream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669280" cy="1115568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7373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D4FF"/>
                </a:solidFill>
                <a:latin typeface="Calibr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6916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Calibri"/>
              </a:rPr>
              <a:t>SIMULATOR FIRES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07568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Scripted Layering attack begins → Funds flow through 4-hop shell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62072"/>
            <a:ext cx="5669280" cy="1115568"/>
          </a:xfrm>
          <a:prstGeom prst="rect">
            <a:avLst/>
          </a:prstGeom>
          <a:solidFill>
            <a:srgbClr val="122244"/>
          </a:solidFill>
          <a:ln w="1524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99923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4C6A"/>
                </a:solidFill>
                <a:latin typeface="Calibr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535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C6A"/>
                </a:solidFill>
                <a:latin typeface="Calibri"/>
              </a:rPr>
              <a:t>ALERT FIRES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375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"Layering Chain Detected — CRITICAL" → Alert Center lights up in 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862072"/>
            <a:ext cx="5669280" cy="1115568"/>
          </a:xfrm>
          <a:prstGeom prst="rect">
            <a:avLst/>
          </a:prstGeom>
          <a:solidFill>
            <a:srgbClr val="122244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99923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C3AED"/>
                </a:solidFill>
                <a:latin typeface="Calibri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9535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OPEN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3375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Click Alert → Fund Flow Graph opens → Animated red path traces laundering route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23944"/>
            <a:ext cx="5669280" cy="1115568"/>
          </a:xfrm>
          <a:prstGeom prst="rect">
            <a:avLst/>
          </a:prstGeom>
          <a:solidFill>
            <a:srgbClr val="122244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26110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C3AED"/>
                </a:solidFill>
                <a:latin typeface="Calibri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1538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INSPECT NODE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9943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Click any account node → Account details + transaction history popup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123944"/>
            <a:ext cx="5669280" cy="1115568"/>
          </a:xfrm>
          <a:prstGeom prst="rect">
            <a:avLst/>
          </a:prstGeom>
          <a:solidFill>
            <a:srgbClr val="1222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426110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21538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CREATE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59943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One click → Investigation Workspace → Add notes, assign analyst, timeline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55848" y="5385816"/>
            <a:ext cx="5669280" cy="1115568"/>
          </a:xfrm>
          <a:prstGeom prst="rect">
            <a:avLst/>
          </a:prstGeom>
          <a:solidFill>
            <a:srgbClr val="1222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5522976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547725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GENERATE STR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1648" y="586130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One click → PDF Suspicious Transaction Report downloads instantly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Live URL: http://localhost:5173  •  Email: admin@fundtrace.ai  •  Password: FundTrace@2024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KEY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Why FundTrace AI Stands Apart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5623560" cy="2286000"/>
          </a:xfrm>
          <a:prstGeom prst="rect">
            <a:avLst/>
          </a:prstGeom>
          <a:solidFill>
            <a:srgbClr val="122244"/>
          </a:solidFill>
          <a:ln w="1524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9222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C6A"/>
                </a:solidFill>
                <a:latin typeface="Calibri"/>
              </a:rPr>
              <a:t>vs. Legacy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Legacy systems run overnight batch jobs.
FundTrace streams and fires alerts in &lt; 200ms — catching fraud as it happens.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627632"/>
            <a:ext cx="5623560" cy="2286000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🕸️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18105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Calibri"/>
              </a:rPr>
              <a:t>Graph-First Thinking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7744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Most tools flag individual transactions.
We trace the entire money trail visually — from source to destination across all linked accounts.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5623560" cy="2286000"/>
          </a:xfrm>
          <a:prstGeom prst="rect">
            <a:avLst/>
          </a:prstGeom>
          <a:solidFill>
            <a:srgbClr val="122244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251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Calibri"/>
              </a:rPr>
              <a:t>Zero-Label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1032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Isolation Forest requires no labelled fraud training data.
Works from Day 1, even on brand-new, unseen attack patterns.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4160520"/>
            <a:ext cx="5623560" cy="2286000"/>
          </a:xfrm>
          <a:prstGeom prst="rect">
            <a:avLst/>
          </a:prstGeom>
          <a:solidFill>
            <a:srgbClr val="1222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One-Click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91032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Automatic STR / PDF report generation built in.
RBI AML and FIU-IND compliant reporting — ready out-of-the-box.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IMPACT &amp;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2788920" cy="2103120"/>
          </a:xfrm>
          <a:prstGeom prst="rect">
            <a:avLst/>
          </a:prstGeom>
          <a:solidFill>
            <a:srgbClr val="122244"/>
          </a:solidFill>
          <a:ln w="1524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4C6A"/>
                </a:solidFill>
                <a:latin typeface="Calibri"/>
              </a:rPr>
              <a:t>₹2.5L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Annual fraud losses
in India  (RBI 2023)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572768"/>
            <a:ext cx="2788920" cy="2103120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  <a:latin typeface="Calibri"/>
              </a:rPr>
              <a:t>$28.8 Billion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48716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Global AML software
market by 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72768"/>
            <a:ext cx="2788920" cy="2103120"/>
          </a:xfrm>
          <a:prstGeom prst="rect">
            <a:avLst/>
          </a:prstGeom>
          <a:solidFill>
            <a:srgbClr val="1222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90d → &lt;1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8716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Detection time reduction
with FundTrace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572768"/>
            <a:ext cx="2788920" cy="2103120"/>
          </a:xfrm>
          <a:prstGeom prst="rect">
            <a:avLst/>
          </a:prstGeom>
          <a:solidFill>
            <a:srgbClr val="122244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6916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C3AED"/>
                </a:solidFill>
                <a:latin typeface="Calibri"/>
              </a:rPr>
              <a:t>1.5 Million+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48716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STR reports filed
annually with FIU-IND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64008" cy="2148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58768"/>
            <a:ext cx="11109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India's Financial Intelligence Unit (FIU-IND) receives over 1.5 million Suspicious Transaction Reports annually. Banks need automated, real-time AML systems to stay both compliant and competitive.
FundTrace AI addresses this gap with a production-ready platform purpose-built for Indian banking infrastructure — combining rule-based speed with graph and ML depth. Our solution reduces detection latency from 90 days to under one second, enabling banks to stop fraud before it completes.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FundTrace AI is solving a real, quantifiable problem in Indian financial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What's Next for FundTrace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11430000" cy="640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783080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084831"/>
            <a:ext cx="2834640" cy="4480560"/>
          </a:xfrm>
          <a:prstGeom prst="rect">
            <a:avLst/>
          </a:prstGeom>
          <a:solidFill>
            <a:srgbClr val="1222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084831"/>
            <a:ext cx="28346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F1E"/>
                </a:solidFill>
                <a:latin typeface="Calibri"/>
              </a:rPr>
              <a:t>✅ 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9631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Hackathon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89504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8-type rule fraud engine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Isolation Forest ML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Force-directed graph viz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Case management workspace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One-click STR PDF export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Socket.io real-time 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0208" y="1783080"/>
            <a:ext cx="20116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2084831"/>
            <a:ext cx="2834640" cy="4480560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2084831"/>
            <a:ext cx="283464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2103120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F1E"/>
                </a:solidFill>
                <a:latin typeface="Calibri"/>
              </a:rPr>
              <a:t>🔵  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49631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Scale &amp; 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889504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Neo4j for heavy graph workloads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Multi-bank data federation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WhatsApp / SMS alert push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UPI &amp; NEFT/RTGS connectors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Mobile investigator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0296" y="1783080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216" y="2084831"/>
            <a:ext cx="2834640" cy="4480560"/>
          </a:xfrm>
          <a:prstGeom prst="rect">
            <a:avLst/>
          </a:prstGeom>
          <a:solidFill>
            <a:srgbClr val="122244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216" y="2084831"/>
            <a:ext cx="28346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103120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F1E"/>
                </a:solidFill>
                <a:latin typeface="Calibri"/>
              </a:rPr>
              <a:t>🔵  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49631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Advanced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89504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Graph Neural Network (GNN) model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RBI regulatory examiner dashboard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Explainable AI (XAI) for alerts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Automated case prioritisation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30384" y="178308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0304" y="2084831"/>
            <a:ext cx="2834640" cy="4480560"/>
          </a:xfrm>
          <a:prstGeom prst="rect">
            <a:avLst/>
          </a:prstGeom>
          <a:solidFill>
            <a:srgbClr val="12224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90304" y="2084831"/>
            <a:ext cx="28346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1744" y="2103120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F1E"/>
                </a:solidFill>
                <a:latin typeface="Calibri"/>
              </a:rPr>
              <a:t>🔵 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249631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SaaS &amp; Open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889504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Multi-tenant SaaS deployment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Open API for third-party banks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AI investigator copilot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• Cross-bank consortium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Built by Passionate Engineers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  <a:latin typeface="Calibri"/>
              </a:rPr>
              <a:t>K. J. Somaiya College of Engineering  •  Hackathon Round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2788920" cy="4480560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4712" y="2103120"/>
            <a:ext cx="1170432" cy="117043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103120"/>
            <a:ext cx="1170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832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Team Member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82219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Calibri"/>
              </a:rPr>
              <a:t>Full-Stack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062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Built real-time backend,
Socket.io pipeline &amp; fraud rule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0749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7"/>
                </a:solidFill>
                <a:latin typeface="Calibri"/>
              </a:rPr>
              <a:t>K. J. Somaiya COE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965960"/>
            <a:ext cx="2788920" cy="4480560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2103120"/>
            <a:ext cx="1170432" cy="117043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103120"/>
            <a:ext cx="1170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33832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Team Member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82219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Calibri"/>
              </a:rPr>
              <a:t>ML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42062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Designed Isolation Forest model
&amp; NetworkX graph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50749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7"/>
                </a:solidFill>
                <a:latin typeface="Calibri"/>
              </a:rPr>
              <a:t>K. J. Somaiya COE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1965960"/>
            <a:ext cx="2788920" cy="4480560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04888" y="2103120"/>
            <a:ext cx="1170432" cy="117043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888" y="2103120"/>
            <a:ext cx="1170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3832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Team Member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82219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Calibri"/>
              </a:rPr>
              <a:t>Frontend / UI-UX Dev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42062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Built React dashboard, graph viz
&amp; investigation 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50749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7"/>
                </a:solidFill>
                <a:latin typeface="Calibri"/>
              </a:rPr>
              <a:t>K. J. Somaiya COE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90304" y="1965960"/>
            <a:ext cx="2788920" cy="4480560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94976" y="2103120"/>
            <a:ext cx="1170432" cy="117043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2103120"/>
            <a:ext cx="1170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33832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Team Member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382219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Calibri"/>
              </a:rPr>
              <a:t>Backend / DevOps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42062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MongoDB schemas, REST APIs,
Render deployment &amp; STR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50749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7"/>
                </a:solidFill>
                <a:latin typeface="Calibri"/>
              </a:rPr>
              <a:t>K. J. Somaiya COE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350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Calibri"/>
              </a:rPr>
              <a:t>★  Replace placeholders with actual names &amp; photos before submitting  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FundTrace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423160"/>
            <a:ext cx="44805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Real-time AML  •  Graph Intelligence  •  Built for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46120"/>
            <a:ext cx="4114800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55264"/>
            <a:ext cx="41148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F1E"/>
                </a:solidFill>
                <a:latin typeface="Calibri"/>
              </a:rPr>
              <a:t>🌐  Live Demo  →  http://localhost:5173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3246120"/>
            <a:ext cx="4114800" cy="777240"/>
          </a:xfrm>
          <a:prstGeom prst="rect">
            <a:avLst/>
          </a:prstGeom>
          <a:solidFill>
            <a:srgbClr val="12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255264"/>
            <a:ext cx="41148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Calibri"/>
              </a:rPr>
              <a:t>📁  GitHub Repo  →  [your-repo-url]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251960"/>
            <a:ext cx="5760720" cy="1097280"/>
          </a:xfrm>
          <a:prstGeom prst="rect">
            <a:avLst/>
          </a:prstGeom>
          <a:solidFill>
            <a:srgbClr val="0D1B3E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43159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Demo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645152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Email: admin@fundtrace.ai     Password: FundTrace@2024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PS3: Banking Fraud Detection  |  Hackathon Round 2  |  K. J. Somaiya College of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47472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Built for RBI AML Compliance &amp; FIU-IND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92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